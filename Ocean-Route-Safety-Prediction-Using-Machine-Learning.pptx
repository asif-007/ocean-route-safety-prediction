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6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Inter Light" panose="020B0604020202020204" charset="0"/>
      <p:regular r:id="rId20"/>
    </p:embeddedFont>
    <p:embeddedFont>
      <p:font typeface="Wingdings 3" panose="05040102010807070707" pitchFamily="18" charset="2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2171701"/>
            <a:ext cx="13238487" cy="4994372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6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45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4292600"/>
            <a:ext cx="13238486" cy="28734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3" y="7166072"/>
            <a:ext cx="13238487" cy="1290600"/>
          </a:xfrm>
        </p:spPr>
        <p:txBody>
          <a:bodyPr anchor="t"/>
          <a:lstStyle>
            <a:lvl1pPr marL="0" indent="0" algn="l">
              <a:buNone/>
              <a:defRPr sz="3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1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4969" y="3090863"/>
            <a:ext cx="6594509" cy="6293645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1740" y="3084139"/>
            <a:ext cx="6594512" cy="6300368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4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70" y="2857500"/>
            <a:ext cx="659450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4969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1743" y="2857500"/>
            <a:ext cx="659450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81743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9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9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0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0" y="2171700"/>
            <a:ext cx="5101596" cy="21717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6925" y="2171700"/>
            <a:ext cx="7793996" cy="68580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0" y="4693921"/>
            <a:ext cx="5101595" cy="4343399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6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861" y="2781288"/>
            <a:ext cx="7639359" cy="2362212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24319" y="1714500"/>
            <a:ext cx="480060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7627469" cy="2057400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7200880"/>
            <a:ext cx="13238486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3" y="1028700"/>
            <a:ext cx="13238487" cy="54609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4" y="8050988"/>
            <a:ext cx="13238484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87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2171700"/>
            <a:ext cx="13238489" cy="297180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13238489" cy="35433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7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2" y="2171700"/>
            <a:ext cx="11998973" cy="3485061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895601" y="5656761"/>
            <a:ext cx="10919474" cy="51326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6525986"/>
            <a:ext cx="13238489" cy="25146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47443" y="1456880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5735" y="3920681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3009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4686302"/>
            <a:ext cx="13238490" cy="247977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166072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95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421" y="2971800"/>
            <a:ext cx="442029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78695" y="4000500"/>
            <a:ext cx="4391025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5489" y="2971800"/>
            <a:ext cx="440436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809659" y="4000500"/>
            <a:ext cx="4420191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2971800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87051" y="4000500"/>
            <a:ext cx="4398170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23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695" y="6376424"/>
            <a:ext cx="441007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78695" y="3314700"/>
            <a:ext cx="4410075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78695" y="7240817"/>
            <a:ext cx="4410075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4063" y="6376424"/>
            <a:ext cx="439578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834062" y="3314700"/>
            <a:ext cx="4395788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832033" y="7240816"/>
            <a:ext cx="4401609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6376424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687049" y="3314700"/>
            <a:ext cx="4398170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86863" y="7240813"/>
            <a:ext cx="4403996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8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85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56319" y="645320"/>
            <a:ext cx="2628902" cy="8739188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8695" y="1331121"/>
            <a:ext cx="11134724" cy="80533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6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004528"/>
            <a:ext cx="6055518" cy="6282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338521"/>
            <a:ext cx="2283618" cy="354818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2913518" y="2514600"/>
            <a:ext cx="4229100" cy="42291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1999119" y="1"/>
            <a:ext cx="2405081" cy="17121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2908817" y="9144000"/>
            <a:ext cx="1490601" cy="114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9167" y="679077"/>
            <a:ext cx="14107085" cy="21007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69" y="3079378"/>
            <a:ext cx="13419812" cy="6293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5233459" y="2686052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3427360" y="4837946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83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63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7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7590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6200" y="-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92238" y="2892923"/>
            <a:ext cx="9445523" cy="17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Ocean Route Safety Prediction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918892"/>
            <a:ext cx="9445523" cy="2721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Team Details:</a:t>
            </a:r>
            <a:b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23071A0589 – K Suprith</a:t>
            </a:r>
            <a:b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23071A05A2 – Mohd Asif Ali Shaan</a:t>
            </a:r>
            <a:b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23071A05A7 – </a:t>
            </a:r>
            <a:r>
              <a:rPr lang="en-US" sz="2187" b="1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Narmala</a:t>
            </a:r>
            <a: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Manish</a:t>
            </a:r>
            <a:b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23071A05C2 –  Shahed Azeem</a:t>
            </a:r>
          </a:p>
          <a:p>
            <a:pPr algn="l">
              <a:lnSpc>
                <a:spcPts val="3562"/>
              </a:lnSpc>
            </a:pPr>
            <a:r>
              <a:rPr lang="en-US" sz="2187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23071A05C3 – Md Irfan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779412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256234"/>
            <a:ext cx="8019459" cy="3703587"/>
            <a:chOff x="0" y="0"/>
            <a:chExt cx="10692613" cy="4938116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10679938" cy="4925314"/>
            </a:xfrm>
            <a:custGeom>
              <a:avLst/>
              <a:gdLst/>
              <a:ahLst/>
              <a:cxnLst/>
              <a:rect l="l" t="t" r="r" b="b"/>
              <a:pathLst>
                <a:path w="10679938" h="4925314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935" y="0"/>
                  </a:lnTo>
                  <a:cubicBezTo>
                    <a:pt x="10608818" y="0"/>
                    <a:pt x="10679938" y="71120"/>
                    <a:pt x="10679938" y="158750"/>
                  </a:cubicBezTo>
                  <a:lnTo>
                    <a:pt x="10679938" y="4766564"/>
                  </a:lnTo>
                  <a:cubicBezTo>
                    <a:pt x="10679938" y="4854321"/>
                    <a:pt x="10608691" y="4925314"/>
                    <a:pt x="10520935" y="4925314"/>
                  </a:cubicBezTo>
                  <a:lnTo>
                    <a:pt x="159004" y="4925314"/>
                  </a:lnTo>
                  <a:cubicBezTo>
                    <a:pt x="71120" y="4925314"/>
                    <a:pt x="0" y="4854194"/>
                    <a:pt x="0" y="476656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692638" cy="4938014"/>
            </a:xfrm>
            <a:custGeom>
              <a:avLst/>
              <a:gdLst/>
              <a:ahLst/>
              <a:cxnLst/>
              <a:rect l="l" t="t" r="r" b="b"/>
              <a:pathLst>
                <a:path w="10692638" h="4938014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285" y="0"/>
                  </a:lnTo>
                  <a:lnTo>
                    <a:pt x="10527285" y="6350"/>
                  </a:lnTo>
                  <a:lnTo>
                    <a:pt x="10527285" y="0"/>
                  </a:lnTo>
                  <a:cubicBezTo>
                    <a:pt x="10618598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4772914"/>
                  </a:lnTo>
                  <a:lnTo>
                    <a:pt x="10686288" y="4772914"/>
                  </a:lnTo>
                  <a:lnTo>
                    <a:pt x="10692638" y="4772914"/>
                  </a:lnTo>
                  <a:cubicBezTo>
                    <a:pt x="10692638" y="4864100"/>
                    <a:pt x="10618598" y="4938014"/>
                    <a:pt x="10527285" y="4938014"/>
                  </a:cubicBezTo>
                  <a:lnTo>
                    <a:pt x="10527285" y="4931664"/>
                  </a:lnTo>
                  <a:lnTo>
                    <a:pt x="10527285" y="4938014"/>
                  </a:lnTo>
                  <a:lnTo>
                    <a:pt x="165354" y="4938014"/>
                  </a:lnTo>
                  <a:lnTo>
                    <a:pt x="165354" y="4931664"/>
                  </a:lnTo>
                  <a:lnTo>
                    <a:pt x="165354" y="4938014"/>
                  </a:lnTo>
                  <a:cubicBezTo>
                    <a:pt x="74041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354" y="4925314"/>
                  </a:cubicBezTo>
                  <a:lnTo>
                    <a:pt x="10527285" y="4925314"/>
                  </a:lnTo>
                  <a:cubicBezTo>
                    <a:pt x="10611612" y="4925314"/>
                    <a:pt x="10679938" y="4857115"/>
                    <a:pt x="10679938" y="4772914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28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85284" y="2554043"/>
            <a:ext cx="850554" cy="850554"/>
            <a:chOff x="0" y="0"/>
            <a:chExt cx="1134072" cy="11340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1519238" y="2787853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9269" b="-2926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85284" y="3669059"/>
            <a:ext cx="388530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Environmental Factors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5284" y="4215403"/>
            <a:ext cx="7423842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Ocean navigation depends on complex environmental conditions including temperature, salinity, oxygen levels, and depth variations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80922" y="2256234"/>
            <a:ext cx="8019602" cy="3703587"/>
            <a:chOff x="0" y="0"/>
            <a:chExt cx="10692803" cy="4938116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10680065" cy="4925314"/>
            </a:xfrm>
            <a:custGeom>
              <a:avLst/>
              <a:gdLst/>
              <a:ahLst/>
              <a:cxnLst/>
              <a:rect l="l" t="t" r="r" b="b"/>
              <a:pathLst>
                <a:path w="10680065" h="4925314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1061" y="0"/>
                  </a:lnTo>
                  <a:cubicBezTo>
                    <a:pt x="10608945" y="0"/>
                    <a:pt x="10680065" y="71120"/>
                    <a:pt x="10680065" y="158750"/>
                  </a:cubicBezTo>
                  <a:lnTo>
                    <a:pt x="10680065" y="4766564"/>
                  </a:lnTo>
                  <a:cubicBezTo>
                    <a:pt x="10680065" y="4854321"/>
                    <a:pt x="10608818" y="4925314"/>
                    <a:pt x="10521061" y="4925314"/>
                  </a:cubicBezTo>
                  <a:lnTo>
                    <a:pt x="159004" y="4925314"/>
                  </a:lnTo>
                  <a:cubicBezTo>
                    <a:pt x="71120" y="4925314"/>
                    <a:pt x="0" y="4854194"/>
                    <a:pt x="0" y="4766564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10692765" cy="4938014"/>
            </a:xfrm>
            <a:custGeom>
              <a:avLst/>
              <a:gdLst/>
              <a:ahLst/>
              <a:cxnLst/>
              <a:rect l="l" t="t" r="r" b="b"/>
              <a:pathLst>
                <a:path w="10692765" h="4938014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411" y="0"/>
                  </a:lnTo>
                  <a:lnTo>
                    <a:pt x="10527411" y="6350"/>
                  </a:lnTo>
                  <a:lnTo>
                    <a:pt x="10527411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4772914"/>
                  </a:lnTo>
                  <a:lnTo>
                    <a:pt x="10686415" y="4772914"/>
                  </a:lnTo>
                  <a:lnTo>
                    <a:pt x="10692765" y="4772914"/>
                  </a:lnTo>
                  <a:cubicBezTo>
                    <a:pt x="10692765" y="4864100"/>
                    <a:pt x="10618724" y="4938014"/>
                    <a:pt x="10527411" y="4938014"/>
                  </a:cubicBezTo>
                  <a:lnTo>
                    <a:pt x="10527411" y="4931664"/>
                  </a:lnTo>
                  <a:lnTo>
                    <a:pt x="10527411" y="4938014"/>
                  </a:lnTo>
                  <a:lnTo>
                    <a:pt x="165354" y="4938014"/>
                  </a:lnTo>
                  <a:lnTo>
                    <a:pt x="165354" y="4931664"/>
                  </a:lnTo>
                  <a:lnTo>
                    <a:pt x="165354" y="4938014"/>
                  </a:lnTo>
                  <a:cubicBezTo>
                    <a:pt x="74041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354" y="4925314"/>
                  </a:cubicBezTo>
                  <a:lnTo>
                    <a:pt x="10527411" y="4925314"/>
                  </a:lnTo>
                  <a:cubicBezTo>
                    <a:pt x="10611739" y="4925314"/>
                    <a:pt x="10680065" y="4857115"/>
                    <a:pt x="10680065" y="4772914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578731" y="2554043"/>
            <a:ext cx="850554" cy="850554"/>
            <a:chOff x="0" y="0"/>
            <a:chExt cx="1134072" cy="11340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0" name="Freeform 20" descr="preencoded.png"/>
          <p:cNvSpPr/>
          <p:nvPr/>
        </p:nvSpPr>
        <p:spPr>
          <a:xfrm>
            <a:off x="9812684" y="2787853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7316" b="-7318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578731" y="3669059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Challenges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78731" y="4215403"/>
            <a:ext cx="7423995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Raw ocean sensor data is large, noisy, and contains numerous missing values requiring sophisticated preprocessing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87476" y="6233817"/>
            <a:ext cx="8019459" cy="3249959"/>
            <a:chOff x="0" y="0"/>
            <a:chExt cx="10692613" cy="4333278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10679811" cy="4320540"/>
            </a:xfrm>
            <a:custGeom>
              <a:avLst/>
              <a:gdLst/>
              <a:ahLst/>
              <a:cxnLst/>
              <a:rect l="l" t="t" r="r" b="b"/>
              <a:pathLst>
                <a:path w="10679811" h="432054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161790"/>
                  </a:lnTo>
                  <a:cubicBezTo>
                    <a:pt x="10679811" y="4249420"/>
                    <a:pt x="10608563" y="4320540"/>
                    <a:pt x="10520807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0692511" cy="4333240"/>
            </a:xfrm>
            <a:custGeom>
              <a:avLst/>
              <a:gdLst/>
              <a:ahLst/>
              <a:cxnLst/>
              <a:rect l="l" t="t" r="r" b="b"/>
              <a:pathLst>
                <a:path w="10692511" h="433324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168140"/>
                  </a:lnTo>
                  <a:lnTo>
                    <a:pt x="10686161" y="4168140"/>
                  </a:lnTo>
                  <a:lnTo>
                    <a:pt x="10692511" y="4168140"/>
                  </a:lnTo>
                  <a:cubicBezTo>
                    <a:pt x="10692511" y="4259326"/>
                    <a:pt x="10618470" y="4333240"/>
                    <a:pt x="10527157" y="4333240"/>
                  </a:cubicBezTo>
                  <a:lnTo>
                    <a:pt x="10527157" y="4326890"/>
                  </a:lnTo>
                  <a:lnTo>
                    <a:pt x="10527157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157" y="4320540"/>
                  </a:lnTo>
                  <a:cubicBezTo>
                    <a:pt x="10611485" y="4320540"/>
                    <a:pt x="10679811" y="4252341"/>
                    <a:pt x="10679811" y="4168140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85284" y="6531616"/>
            <a:ext cx="850554" cy="850554"/>
            <a:chOff x="0" y="0"/>
            <a:chExt cx="1134072" cy="11340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8" name="Freeform 28" descr="preencoded.png"/>
          <p:cNvSpPr/>
          <p:nvPr/>
        </p:nvSpPr>
        <p:spPr>
          <a:xfrm>
            <a:off x="1519238" y="676542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659" r="-3656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85284" y="764664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Manual Analysis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5284" y="8192986"/>
            <a:ext cx="742384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Current manual route safety analysis is slow, error-prone, and lacks intelligent automation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280922" y="6233817"/>
            <a:ext cx="8019602" cy="3249959"/>
            <a:chOff x="0" y="0"/>
            <a:chExt cx="10692803" cy="4333278"/>
          </a:xfrm>
        </p:grpSpPr>
        <p:sp>
          <p:nvSpPr>
            <p:cNvPr id="32" name="Freeform 32"/>
            <p:cNvSpPr/>
            <p:nvPr/>
          </p:nvSpPr>
          <p:spPr>
            <a:xfrm>
              <a:off x="6350" y="6350"/>
              <a:ext cx="10679938" cy="4320540"/>
            </a:xfrm>
            <a:custGeom>
              <a:avLst/>
              <a:gdLst/>
              <a:ahLst/>
              <a:cxnLst/>
              <a:rect l="l" t="t" r="r" b="b"/>
              <a:pathLst>
                <a:path w="10679938" h="4320540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935" y="0"/>
                  </a:lnTo>
                  <a:cubicBezTo>
                    <a:pt x="10608818" y="0"/>
                    <a:pt x="10679938" y="71120"/>
                    <a:pt x="10679938" y="158750"/>
                  </a:cubicBezTo>
                  <a:lnTo>
                    <a:pt x="10679938" y="4161790"/>
                  </a:lnTo>
                  <a:cubicBezTo>
                    <a:pt x="10679938" y="4249420"/>
                    <a:pt x="10608691" y="4320540"/>
                    <a:pt x="10520935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0692638" cy="4333240"/>
            </a:xfrm>
            <a:custGeom>
              <a:avLst/>
              <a:gdLst/>
              <a:ahLst/>
              <a:cxnLst/>
              <a:rect l="l" t="t" r="r" b="b"/>
              <a:pathLst>
                <a:path w="10692638" h="4333240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285" y="0"/>
                  </a:lnTo>
                  <a:lnTo>
                    <a:pt x="10527285" y="6350"/>
                  </a:lnTo>
                  <a:lnTo>
                    <a:pt x="10527285" y="0"/>
                  </a:lnTo>
                  <a:cubicBezTo>
                    <a:pt x="10618598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4168140"/>
                  </a:lnTo>
                  <a:lnTo>
                    <a:pt x="10686288" y="4168140"/>
                  </a:lnTo>
                  <a:lnTo>
                    <a:pt x="10692638" y="4168140"/>
                  </a:lnTo>
                  <a:cubicBezTo>
                    <a:pt x="10692638" y="4259326"/>
                    <a:pt x="10618598" y="4333240"/>
                    <a:pt x="10527285" y="4333240"/>
                  </a:cubicBezTo>
                  <a:lnTo>
                    <a:pt x="10527285" y="4326890"/>
                  </a:lnTo>
                  <a:lnTo>
                    <a:pt x="10527285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285" y="4320540"/>
                  </a:lnTo>
                  <a:cubicBezTo>
                    <a:pt x="10611612" y="4320540"/>
                    <a:pt x="10679938" y="4252341"/>
                    <a:pt x="10679938" y="4168140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28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578731" y="6531616"/>
            <a:ext cx="850554" cy="850554"/>
            <a:chOff x="0" y="0"/>
            <a:chExt cx="1134072" cy="1134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6" name="Freeform 36" descr="preencoded.png"/>
          <p:cNvSpPr/>
          <p:nvPr/>
        </p:nvSpPr>
        <p:spPr>
          <a:xfrm>
            <a:off x="9812684" y="676542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39" b="-2439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9578731" y="764664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Need for ML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78731" y="8192986"/>
            <a:ext cx="742399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data-driven machine learning solution is essential to automatically classify routes as safe or unsafe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5804" y="793699"/>
            <a:ext cx="6756054" cy="8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804" y="2105768"/>
            <a:ext cx="540391" cy="41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5804" y="2603002"/>
            <a:ext cx="8069466" cy="38100"/>
            <a:chOff x="0" y="0"/>
            <a:chExt cx="10759288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59313" cy="50800"/>
            </a:xfrm>
            <a:custGeom>
              <a:avLst/>
              <a:gdLst/>
              <a:ahLst/>
              <a:cxnLst/>
              <a:rect l="l" t="t" r="r" b="b"/>
              <a:pathLst>
                <a:path w="10759313" h="50800">
                  <a:moveTo>
                    <a:pt x="0" y="0"/>
                  </a:moveTo>
                  <a:lnTo>
                    <a:pt x="10759313" y="0"/>
                  </a:lnTo>
                  <a:lnTo>
                    <a:pt x="1075931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45804" y="2795140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 Preprocessing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804" y="3314700"/>
            <a:ext cx="8069466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Preprocess ocean sensor data and handle missing values systematically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2740" y="2105768"/>
            <a:ext cx="540391" cy="41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72740" y="2603002"/>
            <a:ext cx="8069466" cy="38100"/>
            <a:chOff x="0" y="0"/>
            <a:chExt cx="10759288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59313" cy="50800"/>
            </a:xfrm>
            <a:custGeom>
              <a:avLst/>
              <a:gdLst/>
              <a:ahLst/>
              <a:cxnLst/>
              <a:rect l="l" t="t" r="r" b="b"/>
              <a:pathLst>
                <a:path w="10759313" h="50800">
                  <a:moveTo>
                    <a:pt x="0" y="0"/>
                  </a:moveTo>
                  <a:lnTo>
                    <a:pt x="10759313" y="0"/>
                  </a:lnTo>
                  <a:lnTo>
                    <a:pt x="1075931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272740" y="2795140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Feature Selection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72740" y="3314700"/>
            <a:ext cx="8069466" cy="49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Select relevant oceanographic features for modeling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804" y="4619177"/>
            <a:ext cx="540391" cy="41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45804" y="5116411"/>
            <a:ext cx="8069466" cy="38100"/>
            <a:chOff x="0" y="0"/>
            <a:chExt cx="10759288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59313" cy="50800"/>
            </a:xfrm>
            <a:custGeom>
              <a:avLst/>
              <a:gdLst/>
              <a:ahLst/>
              <a:cxnLst/>
              <a:rect l="l" t="t" r="r" b="b"/>
              <a:pathLst>
                <a:path w="10759313" h="50800">
                  <a:moveTo>
                    <a:pt x="0" y="0"/>
                  </a:moveTo>
                  <a:lnTo>
                    <a:pt x="10759313" y="0"/>
                  </a:lnTo>
                  <a:lnTo>
                    <a:pt x="1075931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45804" y="5308549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Feature Engineering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5804" y="5828109"/>
            <a:ext cx="8069466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Engineer new safety indicators: WaterCondition, DensityIndex, VisibilityRisk, SafeRoute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72740" y="4619177"/>
            <a:ext cx="540391" cy="41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72740" y="5116411"/>
            <a:ext cx="8069466" cy="38100"/>
            <a:chOff x="0" y="0"/>
            <a:chExt cx="10759288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59313" cy="50800"/>
            </a:xfrm>
            <a:custGeom>
              <a:avLst/>
              <a:gdLst/>
              <a:ahLst/>
              <a:cxnLst/>
              <a:rect l="l" t="t" r="r" b="b"/>
              <a:pathLst>
                <a:path w="10759313" h="50800">
                  <a:moveTo>
                    <a:pt x="0" y="0"/>
                  </a:moveTo>
                  <a:lnTo>
                    <a:pt x="10759313" y="0"/>
                  </a:lnTo>
                  <a:lnTo>
                    <a:pt x="1075931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9272740" y="5308549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Regression Training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72740" y="5828109"/>
            <a:ext cx="8069466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Train regression models to predict temperature and oxygen levels accurately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5804" y="7132587"/>
            <a:ext cx="540391" cy="41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05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45804" y="7629820"/>
            <a:ext cx="8069466" cy="38100"/>
            <a:chOff x="0" y="0"/>
            <a:chExt cx="10759288" cy="50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59313" cy="50800"/>
            </a:xfrm>
            <a:custGeom>
              <a:avLst/>
              <a:gdLst/>
              <a:ahLst/>
              <a:cxnLst/>
              <a:rect l="l" t="t" r="r" b="b"/>
              <a:pathLst>
                <a:path w="10759313" h="50800">
                  <a:moveTo>
                    <a:pt x="0" y="0"/>
                  </a:moveTo>
                  <a:lnTo>
                    <a:pt x="10759313" y="0"/>
                  </a:lnTo>
                  <a:lnTo>
                    <a:pt x="1075931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945804" y="7821959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Classification Model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5804" y="8341519"/>
            <a:ext cx="8069466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Train classification model to predict SafeRoute (Safe/Unsafe) classification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72740" y="7132587"/>
            <a:ext cx="540391" cy="41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06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272740" y="7629820"/>
            <a:ext cx="8069466" cy="38100"/>
            <a:chOff x="0" y="0"/>
            <a:chExt cx="10759288" cy="50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759313" cy="50800"/>
            </a:xfrm>
            <a:custGeom>
              <a:avLst/>
              <a:gdLst/>
              <a:ahLst/>
              <a:cxnLst/>
              <a:rect l="l" t="t" r="r" b="b"/>
              <a:pathLst>
                <a:path w="10759313" h="50800">
                  <a:moveTo>
                    <a:pt x="0" y="0"/>
                  </a:moveTo>
                  <a:lnTo>
                    <a:pt x="10759313" y="0"/>
                  </a:lnTo>
                  <a:lnTo>
                    <a:pt x="1075931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9272740" y="7821959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Model Evaluation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72740" y="8341519"/>
            <a:ext cx="8069466" cy="920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Evaluate using Accuracy, Precision, F1 Score, and R² Score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99217" y="786555"/>
            <a:ext cx="6423717" cy="83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9217" y="2190455"/>
            <a:ext cx="3854206" cy="49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Source &amp; Context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9217" y="2847823"/>
            <a:ext cx="5363766" cy="85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Dataset: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Ocean Bottle Dataset (Kaggle – CalCOFI)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9217" y="3841109"/>
            <a:ext cx="5363766" cy="85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Region: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California Current System, Pacific Ocean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9217" y="4834385"/>
            <a:ext cx="5363766" cy="85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Format: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CSV with 75 features (6 selected for modeling)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9217" y="5908034"/>
            <a:ext cx="3854206" cy="49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Features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9217" y="6565402"/>
            <a:ext cx="5363766" cy="282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062"/>
              </a:lnSpc>
              <a:buFont typeface="Arial"/>
              <a:buChar char="•"/>
            </a:pP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Depthm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– Ocean depth measurements</a:t>
            </a:r>
          </a:p>
          <a:p>
            <a:pPr marL="301625" lvl="1" indent="-150812" algn="l">
              <a:lnSpc>
                <a:spcPts val="3062"/>
              </a:lnSpc>
              <a:buFont typeface="Arial"/>
              <a:buChar char="•"/>
            </a:pP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T_degC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– Temperature readings</a:t>
            </a:r>
          </a:p>
          <a:p>
            <a:pPr marL="301625" lvl="1" indent="-150812" algn="l">
              <a:lnSpc>
                <a:spcPts val="3062"/>
              </a:lnSpc>
              <a:buFont typeface="Arial"/>
              <a:buChar char="•"/>
            </a:pP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Salnty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– Salinity levels</a:t>
            </a:r>
          </a:p>
          <a:p>
            <a:pPr marL="301625" lvl="1" indent="-150812" algn="l">
              <a:lnSpc>
                <a:spcPts val="3062"/>
              </a:lnSpc>
              <a:buFont typeface="Arial"/>
              <a:buChar char="•"/>
            </a:pP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O2ml_L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– Oxygen concentration</a:t>
            </a:r>
          </a:p>
          <a:p>
            <a:pPr marL="301625" lvl="1" indent="-150812" algn="l">
              <a:lnSpc>
                <a:spcPts val="3062"/>
              </a:lnSpc>
              <a:buFont typeface="Arial"/>
              <a:buChar char="•"/>
            </a:pP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R_TEMP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– Recorded temperature</a:t>
            </a:r>
          </a:p>
          <a:p>
            <a:pPr marL="301625" lvl="1" indent="-150812" algn="l">
              <a:lnSpc>
                <a:spcPts val="3062"/>
              </a:lnSpc>
              <a:buFont typeface="Arial"/>
              <a:buChar char="•"/>
            </a:pPr>
            <a:r>
              <a:rPr lang="en-US" sz="200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R_SALINITY</a:t>
            </a: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– Recorded salinity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CBF613-CB47-DAA1-9399-15428D8C7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417320"/>
            <a:ext cx="8686817" cy="48341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3C67FB-3716-BB8C-3827-1B40C34E5B6B}"/>
              </a:ext>
            </a:extLst>
          </p:cNvPr>
          <p:cNvSpPr txBox="1"/>
          <p:nvPr/>
        </p:nvSpPr>
        <p:spPr>
          <a:xfrm>
            <a:off x="9448800" y="6819900"/>
            <a:ext cx="548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Featured Dataset</a:t>
            </a:r>
            <a:endParaRPr lang="en-IN" sz="32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52783" y="654101"/>
            <a:ext cx="6112964" cy="78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Architecture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6D91749-129E-D38E-F2E4-5054722F3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714500"/>
            <a:ext cx="15849600" cy="7918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5804" y="717947"/>
            <a:ext cx="6756054" cy="87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Feature Engineering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804" y="2030016"/>
            <a:ext cx="16396392" cy="49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Derived four new safety indicators from raw oceanographic measurements to enhance route safety prediction accuracy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5804" y="3223470"/>
            <a:ext cx="8069466" cy="2827134"/>
            <a:chOff x="0" y="0"/>
            <a:chExt cx="10759288" cy="37695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59313" cy="3769487"/>
            </a:xfrm>
            <a:custGeom>
              <a:avLst/>
              <a:gdLst/>
              <a:ahLst/>
              <a:cxnLst/>
              <a:rect l="l" t="t" r="r" b="b"/>
              <a:pathLst>
                <a:path w="10759313" h="376948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15473" y="0"/>
                  </a:lnTo>
                  <a:cubicBezTo>
                    <a:pt x="10650093" y="0"/>
                    <a:pt x="10759313" y="109220"/>
                    <a:pt x="10759313" y="243840"/>
                  </a:cubicBezTo>
                  <a:lnTo>
                    <a:pt x="10759313" y="3525647"/>
                  </a:lnTo>
                  <a:cubicBezTo>
                    <a:pt x="10759313" y="3660267"/>
                    <a:pt x="10650093" y="3769487"/>
                    <a:pt x="10515473" y="3769487"/>
                  </a:cubicBezTo>
                  <a:lnTo>
                    <a:pt x="243840" y="3769487"/>
                  </a:lnTo>
                  <a:cubicBezTo>
                    <a:pt x="109220" y="3769487"/>
                    <a:pt x="0" y="3660267"/>
                    <a:pt x="0" y="35256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45804" y="3185370"/>
            <a:ext cx="8069466" cy="152400"/>
            <a:chOff x="0" y="0"/>
            <a:chExt cx="10759288" cy="203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59313" cy="203200"/>
            </a:xfrm>
            <a:custGeom>
              <a:avLst/>
              <a:gdLst/>
              <a:ahLst/>
              <a:cxnLst/>
              <a:rect l="l" t="t" r="r" b="b"/>
              <a:pathLst>
                <a:path w="10759313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57713" y="0"/>
                  </a:lnTo>
                  <a:cubicBezTo>
                    <a:pt x="10713847" y="0"/>
                    <a:pt x="10759313" y="45466"/>
                    <a:pt x="10759313" y="101600"/>
                  </a:cubicBezTo>
                  <a:cubicBezTo>
                    <a:pt x="10759313" y="157734"/>
                    <a:pt x="10713847" y="203200"/>
                    <a:pt x="1065771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4575200" y="2818209"/>
            <a:ext cx="810663" cy="810663"/>
            <a:chOff x="0" y="0"/>
            <a:chExt cx="1080884" cy="10808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0897" cy="1080897"/>
            </a:xfrm>
            <a:custGeom>
              <a:avLst/>
              <a:gdLst/>
              <a:ahLst/>
              <a:cxnLst/>
              <a:rect l="l" t="t" r="r" b="b"/>
              <a:pathLst>
                <a:path w="1080897" h="1080897">
                  <a:moveTo>
                    <a:pt x="0" y="540385"/>
                  </a:moveTo>
                  <a:cubicBezTo>
                    <a:pt x="0" y="241935"/>
                    <a:pt x="241935" y="0"/>
                    <a:pt x="540385" y="0"/>
                  </a:cubicBezTo>
                  <a:cubicBezTo>
                    <a:pt x="838835" y="0"/>
                    <a:pt x="1080897" y="241935"/>
                    <a:pt x="1080897" y="540385"/>
                  </a:cubicBezTo>
                  <a:cubicBezTo>
                    <a:pt x="1080897" y="838835"/>
                    <a:pt x="838962" y="1080897"/>
                    <a:pt x="540385" y="1080897"/>
                  </a:cubicBezTo>
                  <a:cubicBezTo>
                    <a:pt x="241808" y="1080897"/>
                    <a:pt x="0" y="838962"/>
                    <a:pt x="0" y="54038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4818383" y="2935186"/>
            <a:ext cx="324145" cy="49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4023" y="3879952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WaterCondition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4023" y="4399512"/>
            <a:ext cx="7453017" cy="1342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Composite indicator based on temperature and oxygen levels to assess overall water quality and suitability for navigation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72740" y="3223470"/>
            <a:ext cx="8069466" cy="2827134"/>
            <a:chOff x="0" y="0"/>
            <a:chExt cx="10759288" cy="37695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59313" cy="3769487"/>
            </a:xfrm>
            <a:custGeom>
              <a:avLst/>
              <a:gdLst/>
              <a:ahLst/>
              <a:cxnLst/>
              <a:rect l="l" t="t" r="r" b="b"/>
              <a:pathLst>
                <a:path w="10759313" h="376948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15473" y="0"/>
                  </a:lnTo>
                  <a:cubicBezTo>
                    <a:pt x="10650093" y="0"/>
                    <a:pt x="10759313" y="109220"/>
                    <a:pt x="10759313" y="243840"/>
                  </a:cubicBezTo>
                  <a:lnTo>
                    <a:pt x="10759313" y="3525647"/>
                  </a:lnTo>
                  <a:cubicBezTo>
                    <a:pt x="10759313" y="3660267"/>
                    <a:pt x="10650093" y="3769487"/>
                    <a:pt x="10515473" y="3769487"/>
                  </a:cubicBezTo>
                  <a:lnTo>
                    <a:pt x="243840" y="3769487"/>
                  </a:lnTo>
                  <a:cubicBezTo>
                    <a:pt x="109220" y="3769487"/>
                    <a:pt x="0" y="3660267"/>
                    <a:pt x="0" y="35256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272740" y="3185370"/>
            <a:ext cx="8069466" cy="152400"/>
            <a:chOff x="0" y="0"/>
            <a:chExt cx="10759288" cy="20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59313" cy="203200"/>
            </a:xfrm>
            <a:custGeom>
              <a:avLst/>
              <a:gdLst/>
              <a:ahLst/>
              <a:cxnLst/>
              <a:rect l="l" t="t" r="r" b="b"/>
              <a:pathLst>
                <a:path w="10759313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57713" y="0"/>
                  </a:lnTo>
                  <a:cubicBezTo>
                    <a:pt x="10713847" y="0"/>
                    <a:pt x="10759313" y="45466"/>
                    <a:pt x="10759313" y="101600"/>
                  </a:cubicBezTo>
                  <a:cubicBezTo>
                    <a:pt x="10759313" y="157734"/>
                    <a:pt x="10713847" y="203200"/>
                    <a:pt x="1065771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2902136" y="2818209"/>
            <a:ext cx="810663" cy="810663"/>
            <a:chOff x="0" y="0"/>
            <a:chExt cx="1080884" cy="10808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80897" cy="1080897"/>
            </a:xfrm>
            <a:custGeom>
              <a:avLst/>
              <a:gdLst/>
              <a:ahLst/>
              <a:cxnLst/>
              <a:rect l="l" t="t" r="r" b="b"/>
              <a:pathLst>
                <a:path w="1080897" h="1080897">
                  <a:moveTo>
                    <a:pt x="0" y="540385"/>
                  </a:moveTo>
                  <a:cubicBezTo>
                    <a:pt x="0" y="241935"/>
                    <a:pt x="241935" y="0"/>
                    <a:pt x="540385" y="0"/>
                  </a:cubicBezTo>
                  <a:cubicBezTo>
                    <a:pt x="838835" y="0"/>
                    <a:pt x="1080897" y="241935"/>
                    <a:pt x="1080897" y="540385"/>
                  </a:cubicBezTo>
                  <a:cubicBezTo>
                    <a:pt x="1080897" y="838835"/>
                    <a:pt x="838962" y="1080897"/>
                    <a:pt x="540385" y="1080897"/>
                  </a:cubicBezTo>
                  <a:cubicBezTo>
                    <a:pt x="241808" y="1080897"/>
                    <a:pt x="0" y="838962"/>
                    <a:pt x="0" y="54038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3145319" y="2935186"/>
            <a:ext cx="324145" cy="49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80959" y="3879952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DensityIndex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80959" y="4399512"/>
            <a:ext cx="7453017" cy="1342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Calculated from salinity and temperature to determine water density, which affects vessel buoyancy and navigation safety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45804" y="6713334"/>
            <a:ext cx="8069466" cy="2827134"/>
            <a:chOff x="0" y="0"/>
            <a:chExt cx="10759288" cy="37695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59313" cy="3769487"/>
            </a:xfrm>
            <a:custGeom>
              <a:avLst/>
              <a:gdLst/>
              <a:ahLst/>
              <a:cxnLst/>
              <a:rect l="l" t="t" r="r" b="b"/>
              <a:pathLst>
                <a:path w="10759313" h="376948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15473" y="0"/>
                  </a:lnTo>
                  <a:cubicBezTo>
                    <a:pt x="10650093" y="0"/>
                    <a:pt x="10759313" y="109220"/>
                    <a:pt x="10759313" y="243840"/>
                  </a:cubicBezTo>
                  <a:lnTo>
                    <a:pt x="10759313" y="3525647"/>
                  </a:lnTo>
                  <a:cubicBezTo>
                    <a:pt x="10759313" y="3660267"/>
                    <a:pt x="10650093" y="3769487"/>
                    <a:pt x="10515473" y="3769487"/>
                  </a:cubicBezTo>
                  <a:lnTo>
                    <a:pt x="243840" y="3769487"/>
                  </a:lnTo>
                  <a:cubicBezTo>
                    <a:pt x="109220" y="3769487"/>
                    <a:pt x="0" y="3660267"/>
                    <a:pt x="0" y="35256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45804" y="6675234"/>
            <a:ext cx="8069466" cy="152400"/>
            <a:chOff x="0" y="0"/>
            <a:chExt cx="10759288" cy="203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59313" cy="203200"/>
            </a:xfrm>
            <a:custGeom>
              <a:avLst/>
              <a:gdLst/>
              <a:ahLst/>
              <a:cxnLst/>
              <a:rect l="l" t="t" r="r" b="b"/>
              <a:pathLst>
                <a:path w="10759313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57713" y="0"/>
                  </a:lnTo>
                  <a:cubicBezTo>
                    <a:pt x="10713847" y="0"/>
                    <a:pt x="10759313" y="45466"/>
                    <a:pt x="10759313" y="101600"/>
                  </a:cubicBezTo>
                  <a:cubicBezTo>
                    <a:pt x="10759313" y="157734"/>
                    <a:pt x="10713847" y="203200"/>
                    <a:pt x="1065771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4575200" y="6308084"/>
            <a:ext cx="810663" cy="810663"/>
            <a:chOff x="0" y="0"/>
            <a:chExt cx="1080884" cy="10808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80897" cy="1080897"/>
            </a:xfrm>
            <a:custGeom>
              <a:avLst/>
              <a:gdLst/>
              <a:ahLst/>
              <a:cxnLst/>
              <a:rect l="l" t="t" r="r" b="b"/>
              <a:pathLst>
                <a:path w="1080897" h="1080897">
                  <a:moveTo>
                    <a:pt x="0" y="540385"/>
                  </a:moveTo>
                  <a:cubicBezTo>
                    <a:pt x="0" y="241935"/>
                    <a:pt x="241935" y="0"/>
                    <a:pt x="540385" y="0"/>
                  </a:cubicBezTo>
                  <a:cubicBezTo>
                    <a:pt x="838835" y="0"/>
                    <a:pt x="1080897" y="241935"/>
                    <a:pt x="1080897" y="540385"/>
                  </a:cubicBezTo>
                  <a:cubicBezTo>
                    <a:pt x="1080897" y="838835"/>
                    <a:pt x="838962" y="1080897"/>
                    <a:pt x="540385" y="1080897"/>
                  </a:cubicBezTo>
                  <a:cubicBezTo>
                    <a:pt x="241808" y="1080897"/>
                    <a:pt x="0" y="838962"/>
                    <a:pt x="0" y="54038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4818383" y="6425060"/>
            <a:ext cx="324145" cy="49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4023" y="7369816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VisibilityRisk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4023" y="7889377"/>
            <a:ext cx="7453017" cy="1342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Identifies abnormal environmental conditions that could impair visibility or create hazardous navigation circumstances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272740" y="6713334"/>
            <a:ext cx="8069466" cy="2827134"/>
            <a:chOff x="0" y="0"/>
            <a:chExt cx="10759288" cy="37695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759313" cy="3769487"/>
            </a:xfrm>
            <a:custGeom>
              <a:avLst/>
              <a:gdLst/>
              <a:ahLst/>
              <a:cxnLst/>
              <a:rect l="l" t="t" r="r" b="b"/>
              <a:pathLst>
                <a:path w="10759313" h="3769487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515473" y="0"/>
                  </a:lnTo>
                  <a:cubicBezTo>
                    <a:pt x="10650093" y="0"/>
                    <a:pt x="10759313" y="109220"/>
                    <a:pt x="10759313" y="243840"/>
                  </a:cubicBezTo>
                  <a:lnTo>
                    <a:pt x="10759313" y="3525647"/>
                  </a:lnTo>
                  <a:cubicBezTo>
                    <a:pt x="10759313" y="3660267"/>
                    <a:pt x="10650093" y="3769487"/>
                    <a:pt x="10515473" y="3769487"/>
                  </a:cubicBezTo>
                  <a:lnTo>
                    <a:pt x="243840" y="3769487"/>
                  </a:lnTo>
                  <a:cubicBezTo>
                    <a:pt x="109220" y="3769487"/>
                    <a:pt x="0" y="3660267"/>
                    <a:pt x="0" y="35256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272740" y="6675234"/>
            <a:ext cx="8069466" cy="152400"/>
            <a:chOff x="0" y="0"/>
            <a:chExt cx="10759288" cy="203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759313" cy="203200"/>
            </a:xfrm>
            <a:custGeom>
              <a:avLst/>
              <a:gdLst/>
              <a:ahLst/>
              <a:cxnLst/>
              <a:rect l="l" t="t" r="r" b="b"/>
              <a:pathLst>
                <a:path w="10759313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0657713" y="0"/>
                  </a:lnTo>
                  <a:cubicBezTo>
                    <a:pt x="10713847" y="0"/>
                    <a:pt x="10759313" y="45466"/>
                    <a:pt x="10759313" y="101600"/>
                  </a:cubicBezTo>
                  <a:cubicBezTo>
                    <a:pt x="10759313" y="157734"/>
                    <a:pt x="10713847" y="203200"/>
                    <a:pt x="10657713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2902136" y="6308084"/>
            <a:ext cx="810663" cy="810663"/>
            <a:chOff x="0" y="0"/>
            <a:chExt cx="1080884" cy="10808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80897" cy="1080897"/>
            </a:xfrm>
            <a:custGeom>
              <a:avLst/>
              <a:gdLst/>
              <a:ahLst/>
              <a:cxnLst/>
              <a:rect l="l" t="t" r="r" b="b"/>
              <a:pathLst>
                <a:path w="1080897" h="1080897">
                  <a:moveTo>
                    <a:pt x="0" y="540385"/>
                  </a:moveTo>
                  <a:cubicBezTo>
                    <a:pt x="0" y="241935"/>
                    <a:pt x="241935" y="0"/>
                    <a:pt x="540385" y="0"/>
                  </a:cubicBezTo>
                  <a:cubicBezTo>
                    <a:pt x="838835" y="0"/>
                    <a:pt x="1080897" y="241935"/>
                    <a:pt x="1080897" y="540385"/>
                  </a:cubicBezTo>
                  <a:cubicBezTo>
                    <a:pt x="1080897" y="838835"/>
                    <a:pt x="838962" y="1080897"/>
                    <a:pt x="540385" y="1080897"/>
                  </a:cubicBezTo>
                  <a:cubicBezTo>
                    <a:pt x="241808" y="1080897"/>
                    <a:pt x="0" y="838962"/>
                    <a:pt x="0" y="540385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3145319" y="6425060"/>
            <a:ext cx="324145" cy="49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80959" y="7369816"/>
            <a:ext cx="3377956" cy="44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SafeRoute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80959" y="7889377"/>
            <a:ext cx="7453017" cy="1342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Binary safety label where Safe = 1 and Unsafe = 0, derived from comprehensive environmental factor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7620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850238" y="1138828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Regression Models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50238" y="2743048"/>
            <a:ext cx="4376890" cy="108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Temperature Prediction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50238" y="4023122"/>
            <a:ext cx="4376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Algorithm: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Linear Regression</a:t>
            </a:r>
          </a:p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Train-test split: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80/20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5185467"/>
            <a:ext cx="437689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Input Features: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Depth + Salinity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0238" y="5894184"/>
            <a:ext cx="437689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R² Score: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0.64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28397" y="2743048"/>
            <a:ext cx="4252912" cy="550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Oxygen Prediction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28397" y="3491503"/>
            <a:ext cx="4376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Algorithm: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Linear Regression</a:t>
            </a:r>
          </a:p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Train-test split: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80/20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397" y="4653858"/>
            <a:ext cx="437689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Input Features: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Depth + Salinity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397" y="5362575"/>
            <a:ext cx="437689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R² Score: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0.72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50238" y="7007571"/>
            <a:ext cx="9445523" cy="2112016"/>
            <a:chOff x="0" y="0"/>
            <a:chExt cx="12594031" cy="28160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55" cy="2815971"/>
            </a:xfrm>
            <a:custGeom>
              <a:avLst/>
              <a:gdLst/>
              <a:ahLst/>
              <a:cxnLst/>
              <a:rect l="l" t="t" r="r" b="b"/>
              <a:pathLst>
                <a:path w="12593955" h="2815971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2435205" y="0"/>
                  </a:lnTo>
                  <a:cubicBezTo>
                    <a:pt x="12522836" y="0"/>
                    <a:pt x="12593955" y="71120"/>
                    <a:pt x="12593955" y="158750"/>
                  </a:cubicBezTo>
                  <a:lnTo>
                    <a:pt x="12593955" y="2657221"/>
                  </a:lnTo>
                  <a:cubicBezTo>
                    <a:pt x="12593955" y="2744851"/>
                    <a:pt x="12522836" y="2815971"/>
                    <a:pt x="12435205" y="2815971"/>
                  </a:cubicBezTo>
                  <a:lnTo>
                    <a:pt x="158750" y="2815971"/>
                  </a:lnTo>
                  <a:cubicBezTo>
                    <a:pt x="71120" y="2815971"/>
                    <a:pt x="0" y="2744851"/>
                    <a:pt x="0" y="2657221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8771630" y="7276205"/>
            <a:ext cx="8240611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Insight:</a:t>
            </a: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Depth increase leads to decrease in both temperature and oxygen levels, reflecting known oceanographic principles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14DE72A-C83B-57A9-7672-A739A9E3E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17" y="1265927"/>
            <a:ext cx="5486411" cy="365760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BF13052-D701-1D15-B0F0-0B98728C9A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17" y="5363466"/>
            <a:ext cx="5486411" cy="36576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2238" y="1692621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Classification Model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7476" y="3027607"/>
            <a:ext cx="647405" cy="647405"/>
            <a:chOff x="0" y="0"/>
            <a:chExt cx="863206" cy="863206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913630" y="3110655"/>
            <a:ext cx="531375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Algorithm: Logistic Regression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3630" y="3657009"/>
            <a:ext cx="852413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Selected for simplicity, interpretability, and efficiency in binary classification tasks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87476" y="5212261"/>
            <a:ext cx="647405" cy="647405"/>
            <a:chOff x="0" y="0"/>
            <a:chExt cx="863206" cy="863206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913630" y="5295309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Input Features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13630" y="5841654"/>
            <a:ext cx="852413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Depthm, Salnty, DensityIndex, WaterCondition, VisibilityRisk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87476" y="6943277"/>
            <a:ext cx="647405" cy="647405"/>
            <a:chOff x="0" y="0"/>
            <a:chExt cx="863206" cy="863206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913630" y="7026326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Output: SafeRoute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13630" y="7572670"/>
            <a:ext cx="852413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Binary classification producing Safe (1) or Unsafe (0) route predictions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A4A8035-F25B-EADA-DD07-2C8288579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6465" y="2637197"/>
            <a:ext cx="6579295" cy="52495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949223"/>
            <a:ext cx="70882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Use Cases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243080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8667" b="-866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55314" y="2411759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Marine Navigation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55314" y="2958103"/>
            <a:ext cx="413519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Helps maritime operators determine optimal safe routes, reducing risks and fuel consumption while ensuring crew safety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544866" y="243080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999" b="-200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607941" y="2411759"/>
            <a:ext cx="413519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Environmental Monitoring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7941" y="3401016"/>
            <a:ext cx="413519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Detects abnormal ocean conditions and environmental changes, supporting marine ecosystem research and conservation efforts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2097493" y="243080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5999" b="-600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160578" y="2411759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Risk Identification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60578" y="2958103"/>
            <a:ext cx="4135193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Flags unsafe zones and hazardous conditions in advance, enabling preventive measures and route optimization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6161037"/>
            <a:ext cx="4577801" cy="550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Output Decision Logic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740137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A745"/>
                </a:solidFill>
                <a:latin typeface="Inter Bold"/>
                <a:ea typeface="Inter Bold"/>
                <a:cs typeface="Inter Bold"/>
                <a:sym typeface="Inter Bold"/>
              </a:rPr>
              <a:t>Safe Route 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8061122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 recommends </a:t>
            </a: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PROCEED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with the planned navigation route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397" y="740137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C3545"/>
                </a:solidFill>
                <a:latin typeface="Inter Bold"/>
                <a:ea typeface="Inter Bold"/>
                <a:cs typeface="Inter Bold"/>
                <a:sym typeface="Inter Bold"/>
              </a:rPr>
              <a:t>Unsafe Route 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397" y="8061122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 recommends </a:t>
            </a:r>
            <a:r>
              <a:rPr lang="en-US" sz="2187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AVOID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and suggests alternative safe routes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679684" y="888797"/>
            <a:ext cx="6042870" cy="75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562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Results &amp; 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79684" y="2164709"/>
            <a:ext cx="4771730" cy="660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2"/>
              </a:lnSpc>
            </a:pPr>
            <a:r>
              <a:rPr lang="en-US" sz="606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91.5%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61464" y="3069136"/>
            <a:ext cx="3408016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24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Classification Accuracy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79684" y="3523955"/>
            <a:ext cx="4771730" cy="390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 precision in identifying unsafe routes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94444" y="2164709"/>
            <a:ext cx="4771873" cy="660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2"/>
              </a:lnSpc>
            </a:pPr>
            <a:r>
              <a:rPr lang="en-US" sz="606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0.64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12403" y="3069136"/>
            <a:ext cx="3135954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24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Temperature R² Score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94444" y="3523955"/>
            <a:ext cx="4771873" cy="390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Regression model performance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86988" y="4535386"/>
            <a:ext cx="4771873" cy="660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2"/>
              </a:lnSpc>
            </a:pPr>
            <a:r>
              <a:rPr lang="en-US" sz="6062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0.72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05407" y="5439813"/>
            <a:ext cx="2934891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249" b="1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Oxygen R² Score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86988" y="5894632"/>
            <a:ext cx="4771873" cy="390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Regression model performance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679684" y="6562877"/>
            <a:ext cx="9786642" cy="17564"/>
            <a:chOff x="0" y="0"/>
            <a:chExt cx="13048856" cy="234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048869" cy="23368"/>
            </a:xfrm>
            <a:custGeom>
              <a:avLst/>
              <a:gdLst/>
              <a:ahLst/>
              <a:cxnLst/>
              <a:rect l="l" t="t" r="r" b="b"/>
              <a:pathLst>
                <a:path w="13048869" h="23368">
                  <a:moveTo>
                    <a:pt x="0" y="0"/>
                  </a:moveTo>
                  <a:lnTo>
                    <a:pt x="13048869" y="0"/>
                  </a:lnTo>
                  <a:lnTo>
                    <a:pt x="13048869" y="23368"/>
                  </a:lnTo>
                  <a:lnTo>
                    <a:pt x="0" y="23368"/>
                  </a:ln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7679684" y="6911578"/>
            <a:ext cx="3522021" cy="45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79684" y="7614790"/>
            <a:ext cx="9786642" cy="176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1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system successfully converts raw ocean data into actionable safety decisions using machine learning. With 91.5% accuracy and strong regression performance, this approach provides a reliable framework for automated ocean route safety classification, demonstrating the practical application of ML in marine navigation and environmental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BCDF-8E5E-4B7F-8814-55C774B9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0" y="4000500"/>
            <a:ext cx="8229600" cy="1143000"/>
          </a:xfrm>
        </p:spPr>
        <p:txBody>
          <a:bodyPr>
            <a:normAutofit/>
          </a:bodyPr>
          <a:lstStyle/>
          <a:p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1627487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</TotalTime>
  <Words>652</Words>
  <Application>Microsoft Office PowerPoint</Application>
  <PresentationFormat>Custom</PresentationFormat>
  <Paragraphs>133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Inter Bold</vt:lpstr>
      <vt:lpstr>Inter</vt:lpstr>
      <vt:lpstr>Inter Light</vt:lpstr>
      <vt:lpstr>Century Gothic</vt:lpstr>
      <vt:lpstr>Wingdings 3</vt:lpstr>
      <vt:lpstr>Calibri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Ocean-Route-Safety-Prediction-Using-Machine-Learning.pptx</dc:title>
  <cp:lastModifiedBy>Asif Ali</cp:lastModifiedBy>
  <cp:revision>3</cp:revision>
  <dcterms:created xsi:type="dcterms:W3CDTF">2006-08-16T00:00:00Z</dcterms:created>
  <dcterms:modified xsi:type="dcterms:W3CDTF">2026-04-30T05:15:35Z</dcterms:modified>
  <dc:identifier>DAHG2Cuya_w</dc:identifier>
</cp:coreProperties>
</file>